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0000"/>
    <a:srgbClr val="0A0F1D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3054" y="1506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44C1D-2DBF-48E3-8C9D-2D2C00434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5B8894-FFD3-4C89-82D2-A79371EE3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C2218E-FD1B-469F-8822-87EB93AB0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4C5-EE62-4AD6-8B7C-4C3E1A6EE45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1181D1-EEB7-453C-A869-659435344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96CCC5-A81E-4C01-9A8F-711D8F1AD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E5DF-1E59-499C-8A58-38E81795F6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797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19472F-BE6E-4D4C-9B38-17A80B64E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2F400B-0C29-48E1-B3CA-948D3A025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B1FEB4-3D95-451E-9DA7-FD5175212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4C5-EE62-4AD6-8B7C-4C3E1A6EE45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2DD21D-C012-4153-AE0D-3630D2BAC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C28AF5-2B69-4248-880C-23FB68B37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E5DF-1E59-499C-8A58-38E81795F6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774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EEFF4B-904F-408D-BBCE-6DF622FF4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02051E-8D8D-46BF-97AB-F21D6BBF0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0E2076-B502-45D2-AE93-A61A727A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4C5-EE62-4AD6-8B7C-4C3E1A6EE45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43F8F8-AB35-49DC-96A8-E16A0BFDE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88B446-5D44-4EE5-9668-9E363674E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E5DF-1E59-499C-8A58-38E81795F6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583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0D20FE-C689-407F-B4B3-17D56736E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9F850F-57B2-434B-A212-ECCCF06E68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A63FEC-C283-4633-B518-78B094CB5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D43E64-D611-4D4C-9A7E-D7F7BECA3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4C5-EE62-4AD6-8B7C-4C3E1A6EE45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C2EB8A-693C-4445-A255-FE24476E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E3BDF0-4DB1-4551-AD28-911F2DEA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E5DF-1E59-499C-8A58-38E81795F6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2574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E3F424-2020-4A17-86F9-6A997B322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3A2995-1A9E-4CF4-969A-23A07DD29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C94BCA-20FB-40AB-AB0F-EB59C1E7F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320DC86-8CB2-4BC9-AECF-9EC3B7DA9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7B10FED-AAA7-4A8B-B78A-F0CCB1C3D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F1E9329-8D39-47FB-8B1D-4ECA3F50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4C5-EE62-4AD6-8B7C-4C3E1A6EE45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3840320-3B19-4B12-B837-24C13D7CC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A24DBB3-CC1B-4D8B-9465-7E617F8A3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E5DF-1E59-499C-8A58-38E81795F6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349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369E8E-CD28-481A-8325-6622F8EBB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DF8A70-E6AC-49E2-B338-B2FF74B7C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4C5-EE62-4AD6-8B7C-4C3E1A6EE45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C18ADB-DCF6-40F8-A006-D73C59E73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7BC0B5-353A-45EC-BF9B-C00C42B5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E5DF-1E59-499C-8A58-38E81795F6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426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D331050-6C33-4D7D-B39F-B776F1FD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4C5-EE62-4AD6-8B7C-4C3E1A6EE45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FACF13F-F1FB-44B6-9DC8-076034FE2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D960FF-CC0D-4BAD-9C57-B01494820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E5DF-1E59-499C-8A58-38E81795F6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67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859F8-7429-4EED-9E4A-E6AC3754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247871-8385-4293-B0EF-1DC6FE588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44375C-B9E0-452B-BFBB-35917F1C3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E13C29-A9DA-4002-898B-215E78623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4C5-EE62-4AD6-8B7C-4C3E1A6EE45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57F7DC-7318-4A8E-8660-E09A9A89B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5FA253-0C01-4004-8A98-DA981BE72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E5DF-1E59-499C-8A58-38E81795F6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738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1C45F2-FD66-4388-9031-087864EFD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4C77123-91C2-40ED-AD3F-8D4ED96FCB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573331-6195-44CB-8244-D231C1068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6182EC-6677-4813-97C0-4E33F0FC5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4C5-EE62-4AD6-8B7C-4C3E1A6EE45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ED4434-BE8C-484C-BC71-AC88DDF6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6A0A50-87C6-40C2-8AD5-7F62C3D6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E5DF-1E59-499C-8A58-38E81795F6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854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876A4A-0E9A-4528-9DC4-ACC83B890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200F4FD-7A4A-4396-BE2F-B457FB40D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7C6EF5-9ABC-4CB5-B88A-C055A2551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4C5-EE62-4AD6-8B7C-4C3E1A6EE45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B6EE73-C405-46A0-AA1C-3CE391F1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505FF3-BE98-4D06-B045-4D5C9294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E5DF-1E59-499C-8A58-38E81795F6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4793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2DE32CF-BE7B-4A45-8280-555B6CB643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BAB052A-D0D2-40E9-8CCB-CC88431B8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E7DE06-D4FB-4C8A-AD2D-859CBE93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4C5-EE62-4AD6-8B7C-4C3E1A6EE45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4AB0A8-1025-4012-B74B-341543FC5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6CB84D-E37F-44CB-9EA9-FBDA195D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2E5DF-1E59-499C-8A58-38E81795F6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346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C51BAA-F553-43AB-B269-ACB1A989F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002411-E72A-429D-AAF7-1A322BF84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4A07DD-8DD8-4AEA-A6F8-A332E7D3C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0E4C5-EE62-4AD6-8B7C-4C3E1A6EE45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B5A806-5828-4050-99B3-2541F8494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590533-25E6-4CBD-B6F2-7F41E4294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2E5DF-1E59-499C-8A58-38E81795F6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30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53C6AE-FF89-4014-B294-2BC5B629D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377" y="685171"/>
            <a:ext cx="2615394" cy="56837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5DF083-3FCB-470E-AA25-4A9FEE96912E}"/>
              </a:ext>
            </a:extLst>
          </p:cNvPr>
          <p:cNvSpPr txBox="1"/>
          <p:nvPr/>
        </p:nvSpPr>
        <p:spPr>
          <a:xfrm>
            <a:off x="5950857" y="1117600"/>
            <a:ext cx="548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C00000"/>
                </a:solidFill>
                <a:latin typeface="Arial Black" panose="020B0A04020102020204" pitchFamily="34" charset="0"/>
              </a:rPr>
              <a:t>Презентация проекта </a:t>
            </a:r>
            <a:r>
              <a:rPr lang="en-US" sz="3600" dirty="0">
                <a:solidFill>
                  <a:srgbClr val="C00000"/>
                </a:solidFill>
                <a:latin typeface="Arial Black" panose="020B0A04020102020204" pitchFamily="34" charset="0"/>
              </a:rPr>
              <a:t>Family Tree</a:t>
            </a:r>
            <a:endParaRPr lang="ru-RU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8BB61-6284-48BA-95C6-1F00C0C2D056}"/>
              </a:ext>
            </a:extLst>
          </p:cNvPr>
          <p:cNvSpPr txBox="1"/>
          <p:nvPr/>
        </p:nvSpPr>
        <p:spPr>
          <a:xfrm>
            <a:off x="5508171" y="6299219"/>
            <a:ext cx="6683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C00000"/>
                </a:solidFill>
                <a:latin typeface="Arial Black" panose="020B0A04020102020204" pitchFamily="34" charset="0"/>
              </a:rPr>
              <a:t>Выполнил студент: Трошин Максим 405ИС</a:t>
            </a:r>
            <a:endParaRPr lang="ru-RU" sz="11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DA4886F-E437-4159-9AB0-4F1E07843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78449">
            <a:off x="20064313" y="271031"/>
            <a:ext cx="2357500" cy="51059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8B2E932-3731-4CA5-99B1-741E87428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68864">
            <a:off x="14129586" y="2905934"/>
            <a:ext cx="1824106" cy="3411502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A48FB4-4FD4-467E-BAD5-95B884B051A6}"/>
              </a:ext>
            </a:extLst>
          </p:cNvPr>
          <p:cNvSpPr txBox="1"/>
          <p:nvPr/>
        </p:nvSpPr>
        <p:spPr>
          <a:xfrm>
            <a:off x="12676343" y="471269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7E0000"/>
                </a:solidFill>
                <a:latin typeface="Arial Black" panose="020B0A04020102020204" pitchFamily="34" charset="0"/>
              </a:rPr>
              <a:t>Цели достигнуты</a:t>
            </a:r>
            <a:endParaRPr lang="ru-RU" dirty="0">
              <a:solidFill>
                <a:srgbClr val="7E0000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401DA0-E2E1-46BB-AD8D-2B4BB6CC1C9B}"/>
              </a:ext>
            </a:extLst>
          </p:cNvPr>
          <p:cNvSpPr txBox="1"/>
          <p:nvPr/>
        </p:nvSpPr>
        <p:spPr>
          <a:xfrm>
            <a:off x="12689859" y="1533099"/>
            <a:ext cx="65649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  <a:latin typeface="Arial Black" panose="020B0A04020102020204" pitchFamily="34" charset="0"/>
              </a:rPr>
              <a:t>Было разработано удобное и интуитивно понятное приложение для создания и редактирования генеалогических деревьев.</a:t>
            </a:r>
            <a:endParaRPr lang="ru-RU" sz="12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941E6A-7326-480B-B4E5-4BF3D07F3B26}"/>
              </a:ext>
            </a:extLst>
          </p:cNvPr>
          <p:cNvSpPr txBox="1"/>
          <p:nvPr/>
        </p:nvSpPr>
        <p:spPr>
          <a:xfrm>
            <a:off x="18365037" y="4897170"/>
            <a:ext cx="52387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solidFill>
                  <a:srgbClr val="C00000"/>
                </a:solidFill>
                <a:latin typeface="Arial Black" panose="020B0A04020102020204" pitchFamily="34" charset="0"/>
              </a:rPr>
              <a:t>Основная концепция вывода дерева на экран и интерактивность узлов дерева были реализованы.</a:t>
            </a:r>
            <a:endParaRPr lang="ru-RU" sz="12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668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43C20B5-55A2-46B5-9BEC-9DABDD51F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78449">
            <a:off x="8366777" y="271031"/>
            <a:ext cx="2357500" cy="51059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D9E489-D247-410D-A385-64F122216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68864">
            <a:off x="2432050" y="2905934"/>
            <a:ext cx="1824106" cy="3411502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53C6AE-FF89-4014-B294-2BC5B629D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343273" y="685171"/>
            <a:ext cx="2615394" cy="56837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5DF083-3FCB-470E-AA25-4A9FEE96912E}"/>
              </a:ext>
            </a:extLst>
          </p:cNvPr>
          <p:cNvSpPr txBox="1"/>
          <p:nvPr/>
        </p:nvSpPr>
        <p:spPr>
          <a:xfrm>
            <a:off x="-6488793" y="1117600"/>
            <a:ext cx="548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C00000"/>
                </a:solidFill>
                <a:latin typeface="Arial Black" panose="020B0A04020102020204" pitchFamily="34" charset="0"/>
              </a:rPr>
              <a:t>Презентация проекта </a:t>
            </a:r>
            <a:r>
              <a:rPr lang="en-US" sz="3600" dirty="0">
                <a:solidFill>
                  <a:srgbClr val="C00000"/>
                </a:solidFill>
                <a:latin typeface="Arial Black" panose="020B0A04020102020204" pitchFamily="34" charset="0"/>
              </a:rPr>
              <a:t>Family Tree</a:t>
            </a:r>
            <a:endParaRPr lang="ru-RU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8BB61-6284-48BA-95C6-1F00C0C2D056}"/>
              </a:ext>
            </a:extLst>
          </p:cNvPr>
          <p:cNvSpPr txBox="1"/>
          <p:nvPr/>
        </p:nvSpPr>
        <p:spPr>
          <a:xfrm>
            <a:off x="-6931479" y="6299219"/>
            <a:ext cx="6683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C00000"/>
                </a:solidFill>
                <a:latin typeface="Arial Black" panose="020B0A04020102020204" pitchFamily="34" charset="0"/>
              </a:rPr>
              <a:t>Выполнил студент: Трошин Максим 405ИС</a:t>
            </a:r>
            <a:endParaRPr lang="ru-RU" sz="11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364E2-79CE-411C-B576-FB5550F2C5FA}"/>
              </a:ext>
            </a:extLst>
          </p:cNvPr>
          <p:cNvSpPr txBox="1"/>
          <p:nvPr/>
        </p:nvSpPr>
        <p:spPr>
          <a:xfrm>
            <a:off x="978807" y="471269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7E0000"/>
                </a:solidFill>
                <a:latin typeface="Arial Black" panose="020B0A04020102020204" pitchFamily="34" charset="0"/>
              </a:rPr>
              <a:t>Цели достигнуты</a:t>
            </a:r>
            <a:endParaRPr lang="ru-RU" dirty="0">
              <a:solidFill>
                <a:srgbClr val="7E0000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78D58-C55A-452C-B39D-7054427FD212}"/>
              </a:ext>
            </a:extLst>
          </p:cNvPr>
          <p:cNvSpPr txBox="1"/>
          <p:nvPr/>
        </p:nvSpPr>
        <p:spPr>
          <a:xfrm>
            <a:off x="992323" y="1533099"/>
            <a:ext cx="65649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  <a:latin typeface="Arial Black" panose="020B0A04020102020204" pitchFamily="34" charset="0"/>
              </a:rPr>
              <a:t>Было разработано удобное и интуитивно понятное приложение для создания и редактирования генеалогических деревьев.</a:t>
            </a:r>
            <a:endParaRPr lang="ru-RU" sz="12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A95F75-B8F2-4431-ABA0-C74DCA4503AF}"/>
              </a:ext>
            </a:extLst>
          </p:cNvPr>
          <p:cNvSpPr txBox="1"/>
          <p:nvPr/>
        </p:nvSpPr>
        <p:spPr>
          <a:xfrm>
            <a:off x="6667501" y="4897170"/>
            <a:ext cx="52387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solidFill>
                  <a:srgbClr val="C00000"/>
                </a:solidFill>
                <a:latin typeface="Arial Black" panose="020B0A04020102020204" pitchFamily="34" charset="0"/>
              </a:rPr>
              <a:t>Основная концепция вывода дерева на экран и интерактивность узлов дерева были реализованы.</a:t>
            </a:r>
            <a:endParaRPr lang="ru-RU" sz="12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6BA960-B8B3-4CC0-8093-AC8BF6BBDC24}"/>
              </a:ext>
            </a:extLst>
          </p:cNvPr>
          <p:cNvSpPr txBox="1"/>
          <p:nvPr/>
        </p:nvSpPr>
        <p:spPr>
          <a:xfrm>
            <a:off x="14411764" y="471269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C00000"/>
                </a:solidFill>
                <a:latin typeface="Arial Black" panose="020B0A04020102020204" pitchFamily="34" charset="0"/>
              </a:rPr>
              <a:t>Сохранение данных</a:t>
            </a:r>
            <a:endParaRPr lang="ru-RU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D95E80-1DC7-4538-AB64-18608DF54F17}"/>
              </a:ext>
            </a:extLst>
          </p:cNvPr>
          <p:cNvSpPr txBox="1"/>
          <p:nvPr/>
        </p:nvSpPr>
        <p:spPr>
          <a:xfrm>
            <a:off x="14411764" y="1729996"/>
            <a:ext cx="6564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  <a:latin typeface="Arial Black" panose="020B0A04020102020204" pitchFamily="34" charset="0"/>
              </a:rPr>
              <a:t>Сохранение данных происходит в стандартизированном формате </a:t>
            </a:r>
            <a:r>
              <a:rPr lang="en-US" sz="2400" dirty="0">
                <a:solidFill>
                  <a:srgbClr val="C00000"/>
                </a:solidFill>
                <a:latin typeface="Arial Black" panose="020B0A04020102020204" pitchFamily="34" charset="0"/>
              </a:rPr>
              <a:t>GEDCOM</a:t>
            </a:r>
            <a:r>
              <a:rPr lang="ru-RU" sz="2400" dirty="0">
                <a:solidFill>
                  <a:srgbClr val="C00000"/>
                </a:solidFill>
                <a:latin typeface="Arial Black" panose="020B0A04020102020204" pitchFamily="34" charset="0"/>
              </a:rPr>
              <a:t>.</a:t>
            </a:r>
            <a:endParaRPr lang="ru-RU" sz="12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4EE16D-4518-46D8-B641-ECF4A219F17B}"/>
              </a:ext>
            </a:extLst>
          </p:cNvPr>
          <p:cNvSpPr txBox="1"/>
          <p:nvPr/>
        </p:nvSpPr>
        <p:spPr>
          <a:xfrm>
            <a:off x="19288564" y="3927675"/>
            <a:ext cx="65649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solidFill>
                  <a:srgbClr val="C00000"/>
                </a:solidFill>
                <a:latin typeface="Arial Black" panose="020B0A04020102020204" pitchFamily="34" charset="0"/>
              </a:rPr>
              <a:t>Данными легко обмениваться, не приходится использовать стороннюю базу данных для сохранения, все данные хранятся в локальном хранилище телефона.</a:t>
            </a:r>
            <a:endParaRPr lang="ru-RU" sz="12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Половина рамки 15">
            <a:extLst>
              <a:ext uri="{FF2B5EF4-FFF2-40B4-BE49-F238E27FC236}">
                <a16:creationId xmlns:a16="http://schemas.microsoft.com/office/drawing/2014/main" id="{A0C54591-C03D-43C6-B758-F59D01ED0D60}"/>
              </a:ext>
            </a:extLst>
          </p:cNvPr>
          <p:cNvSpPr/>
          <p:nvPr/>
        </p:nvSpPr>
        <p:spPr>
          <a:xfrm rot="16200000">
            <a:off x="14089824" y="4902827"/>
            <a:ext cx="1768276" cy="1067230"/>
          </a:xfrm>
          <a:prstGeom prst="halfFrame">
            <a:avLst>
              <a:gd name="adj1" fmla="val 22136"/>
              <a:gd name="adj2" fmla="val 19337"/>
            </a:avLst>
          </a:prstGeom>
          <a:solidFill>
            <a:srgbClr val="C00000"/>
          </a:solidFill>
          <a:ln>
            <a:solidFill>
              <a:srgbClr val="7E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0000"/>
              </a:solidFill>
            </a:endParaRPr>
          </a:p>
        </p:txBody>
      </p:sp>
      <p:sp>
        <p:nvSpPr>
          <p:cNvPr id="17" name="Половина рамки 16">
            <a:extLst>
              <a:ext uri="{FF2B5EF4-FFF2-40B4-BE49-F238E27FC236}">
                <a16:creationId xmlns:a16="http://schemas.microsoft.com/office/drawing/2014/main" id="{3A789FFB-205E-43EF-ACF0-F5BCB7AD1BBB}"/>
              </a:ext>
            </a:extLst>
          </p:cNvPr>
          <p:cNvSpPr/>
          <p:nvPr/>
        </p:nvSpPr>
        <p:spPr>
          <a:xfrm rot="5400000">
            <a:off x="24129174" y="583985"/>
            <a:ext cx="1768276" cy="1067230"/>
          </a:xfrm>
          <a:prstGeom prst="halfFrame">
            <a:avLst>
              <a:gd name="adj1" fmla="val 22136"/>
              <a:gd name="adj2" fmla="val 19337"/>
            </a:avLst>
          </a:prstGeom>
          <a:solidFill>
            <a:srgbClr val="C00000"/>
          </a:solidFill>
          <a:ln>
            <a:solidFill>
              <a:srgbClr val="7E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0000"/>
              </a:solidFill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E4B4B4F5-43FB-40AD-AE2F-0BC710F56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4857" y="3429000"/>
            <a:ext cx="2158774" cy="2226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Символ &quot;Запрещено&quot; 19">
            <a:extLst>
              <a:ext uri="{FF2B5EF4-FFF2-40B4-BE49-F238E27FC236}">
                <a16:creationId xmlns:a16="http://schemas.microsoft.com/office/drawing/2014/main" id="{8F2699FB-C321-4324-BEDE-387038C3F321}"/>
              </a:ext>
            </a:extLst>
          </p:cNvPr>
          <p:cNvSpPr/>
          <p:nvPr/>
        </p:nvSpPr>
        <p:spPr>
          <a:xfrm>
            <a:off x="15418462" y="2765572"/>
            <a:ext cx="3528174" cy="3256368"/>
          </a:xfrm>
          <a:prstGeom prst="noSmoking">
            <a:avLst>
              <a:gd name="adj" fmla="val 10108"/>
            </a:avLst>
          </a:prstGeom>
          <a:solidFill>
            <a:srgbClr val="C00000"/>
          </a:solidFill>
          <a:ln>
            <a:solidFill>
              <a:srgbClr val="7E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420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43C20B5-55A2-46B5-9BEC-9DABDD51F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78449">
            <a:off x="-4339574" y="271032"/>
            <a:ext cx="2357500" cy="51059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D9E489-D247-410D-A385-64F122216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68864">
            <a:off x="-10274301" y="2905935"/>
            <a:ext cx="1824106" cy="3411502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5364E2-79CE-411C-B576-FB5550F2C5FA}"/>
              </a:ext>
            </a:extLst>
          </p:cNvPr>
          <p:cNvSpPr txBox="1"/>
          <p:nvPr/>
        </p:nvSpPr>
        <p:spPr>
          <a:xfrm>
            <a:off x="-11727544" y="471270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7E0000"/>
                </a:solidFill>
                <a:latin typeface="Arial Black" panose="020B0A04020102020204" pitchFamily="34" charset="0"/>
              </a:rPr>
              <a:t>Цели достигнуты</a:t>
            </a:r>
            <a:endParaRPr lang="ru-RU" dirty="0">
              <a:solidFill>
                <a:srgbClr val="7E0000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78D58-C55A-452C-B39D-7054427FD212}"/>
              </a:ext>
            </a:extLst>
          </p:cNvPr>
          <p:cNvSpPr txBox="1"/>
          <p:nvPr/>
        </p:nvSpPr>
        <p:spPr>
          <a:xfrm>
            <a:off x="-11714028" y="1533100"/>
            <a:ext cx="65649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  <a:latin typeface="Arial Black" panose="020B0A04020102020204" pitchFamily="34" charset="0"/>
              </a:rPr>
              <a:t>Было разработано удобное и интуитивно понятное приложение для создания и редактирования генеалогических деревьев.</a:t>
            </a:r>
            <a:endParaRPr lang="ru-RU" sz="12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A95F75-B8F2-4431-ABA0-C74DCA4503AF}"/>
              </a:ext>
            </a:extLst>
          </p:cNvPr>
          <p:cNvSpPr txBox="1"/>
          <p:nvPr/>
        </p:nvSpPr>
        <p:spPr>
          <a:xfrm>
            <a:off x="-6038850" y="4897171"/>
            <a:ext cx="52387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solidFill>
                  <a:srgbClr val="C00000"/>
                </a:solidFill>
                <a:latin typeface="Arial Black" panose="020B0A04020102020204" pitchFamily="34" charset="0"/>
              </a:rPr>
              <a:t>Основная концепция вывода дерева на экран и интерактивность узлов дерева были реализованы.</a:t>
            </a:r>
            <a:endParaRPr lang="ru-RU" sz="12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0D347D-0D9D-4E2F-8042-9CFACC4D6539}"/>
              </a:ext>
            </a:extLst>
          </p:cNvPr>
          <p:cNvSpPr txBox="1"/>
          <p:nvPr/>
        </p:nvSpPr>
        <p:spPr>
          <a:xfrm>
            <a:off x="609600" y="471269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C00000"/>
                </a:solidFill>
                <a:latin typeface="Arial Black" panose="020B0A04020102020204" pitchFamily="34" charset="0"/>
              </a:rPr>
              <a:t>Сохранение данных</a:t>
            </a:r>
            <a:endParaRPr lang="ru-RU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13DD3B-2450-446B-BBCD-47168577B031}"/>
              </a:ext>
            </a:extLst>
          </p:cNvPr>
          <p:cNvSpPr txBox="1"/>
          <p:nvPr/>
        </p:nvSpPr>
        <p:spPr>
          <a:xfrm>
            <a:off x="609600" y="1729996"/>
            <a:ext cx="6564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  <a:latin typeface="Arial Black" panose="020B0A04020102020204" pitchFamily="34" charset="0"/>
              </a:rPr>
              <a:t>Сохранение данных происходит в стандартизированном формате </a:t>
            </a:r>
            <a:r>
              <a:rPr lang="en-US" sz="2400" dirty="0">
                <a:solidFill>
                  <a:srgbClr val="C00000"/>
                </a:solidFill>
                <a:latin typeface="Arial Black" panose="020B0A04020102020204" pitchFamily="34" charset="0"/>
              </a:rPr>
              <a:t>GEDCOM</a:t>
            </a:r>
            <a:r>
              <a:rPr lang="ru-RU" sz="2400" dirty="0">
                <a:solidFill>
                  <a:srgbClr val="C00000"/>
                </a:solidFill>
                <a:latin typeface="Arial Black" panose="020B0A04020102020204" pitchFamily="34" charset="0"/>
              </a:rPr>
              <a:t>.</a:t>
            </a:r>
            <a:endParaRPr lang="ru-RU" sz="12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6D7497-24A5-4E0F-B1CE-F5196A690FEA}"/>
              </a:ext>
            </a:extLst>
          </p:cNvPr>
          <p:cNvSpPr txBox="1"/>
          <p:nvPr/>
        </p:nvSpPr>
        <p:spPr>
          <a:xfrm>
            <a:off x="5486400" y="3927675"/>
            <a:ext cx="65649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solidFill>
                  <a:srgbClr val="C00000"/>
                </a:solidFill>
                <a:latin typeface="Arial Black" panose="020B0A04020102020204" pitchFamily="34" charset="0"/>
              </a:rPr>
              <a:t>Данными легко обмениваться, не приходится использовать стороннюю базу данных для сохранения, все данные хранятся в локальном хранилище телефона.</a:t>
            </a:r>
            <a:endParaRPr lang="ru-RU" sz="12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Половина рамки 1">
            <a:extLst>
              <a:ext uri="{FF2B5EF4-FFF2-40B4-BE49-F238E27FC236}">
                <a16:creationId xmlns:a16="http://schemas.microsoft.com/office/drawing/2014/main" id="{6E7DB018-4F94-4285-9327-34DE89ECDD15}"/>
              </a:ext>
            </a:extLst>
          </p:cNvPr>
          <p:cNvSpPr/>
          <p:nvPr/>
        </p:nvSpPr>
        <p:spPr>
          <a:xfrm rot="16200000">
            <a:off x="287660" y="4902827"/>
            <a:ext cx="1768276" cy="1067230"/>
          </a:xfrm>
          <a:prstGeom prst="halfFrame">
            <a:avLst>
              <a:gd name="adj1" fmla="val 22136"/>
              <a:gd name="adj2" fmla="val 19337"/>
            </a:avLst>
          </a:prstGeom>
          <a:solidFill>
            <a:srgbClr val="C00000"/>
          </a:solidFill>
          <a:ln>
            <a:solidFill>
              <a:srgbClr val="7E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0000"/>
              </a:solidFill>
            </a:endParaRPr>
          </a:p>
        </p:txBody>
      </p:sp>
      <p:sp>
        <p:nvSpPr>
          <p:cNvPr id="14" name="Половина рамки 13">
            <a:extLst>
              <a:ext uri="{FF2B5EF4-FFF2-40B4-BE49-F238E27FC236}">
                <a16:creationId xmlns:a16="http://schemas.microsoft.com/office/drawing/2014/main" id="{8D04F55B-FB39-4989-88D6-FD25E964A8A6}"/>
              </a:ext>
            </a:extLst>
          </p:cNvPr>
          <p:cNvSpPr/>
          <p:nvPr/>
        </p:nvSpPr>
        <p:spPr>
          <a:xfrm rot="5400000">
            <a:off x="10327010" y="583985"/>
            <a:ext cx="1768276" cy="1067230"/>
          </a:xfrm>
          <a:prstGeom prst="halfFrame">
            <a:avLst>
              <a:gd name="adj1" fmla="val 22136"/>
              <a:gd name="adj2" fmla="val 19337"/>
            </a:avLst>
          </a:prstGeom>
          <a:solidFill>
            <a:srgbClr val="C00000"/>
          </a:solidFill>
          <a:ln>
            <a:solidFill>
              <a:srgbClr val="7E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BADB43-4EB6-4F42-94AB-873ABEFA8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00000">
            <a:off x="2670889" y="3882566"/>
            <a:ext cx="1279150" cy="131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Символ &quot;Запрещено&quot; 14">
            <a:extLst>
              <a:ext uri="{FF2B5EF4-FFF2-40B4-BE49-F238E27FC236}">
                <a16:creationId xmlns:a16="http://schemas.microsoft.com/office/drawing/2014/main" id="{365E8215-8BA5-4A11-8ACC-5F650B423B79}"/>
              </a:ext>
            </a:extLst>
          </p:cNvPr>
          <p:cNvSpPr/>
          <p:nvPr/>
        </p:nvSpPr>
        <p:spPr>
          <a:xfrm rot="20700000">
            <a:off x="2363486" y="3429000"/>
            <a:ext cx="2090566" cy="1929512"/>
          </a:xfrm>
          <a:prstGeom prst="noSmoking">
            <a:avLst>
              <a:gd name="adj" fmla="val 10108"/>
            </a:avLst>
          </a:prstGeom>
          <a:solidFill>
            <a:srgbClr val="C00000"/>
          </a:solidFill>
          <a:ln>
            <a:solidFill>
              <a:srgbClr val="7E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073799-BEE6-432B-9ECA-563A58141194}"/>
              </a:ext>
            </a:extLst>
          </p:cNvPr>
          <p:cNvSpPr txBox="1"/>
          <p:nvPr/>
        </p:nvSpPr>
        <p:spPr>
          <a:xfrm>
            <a:off x="11756126" y="471269"/>
            <a:ext cx="11932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rgbClr val="C00000"/>
                </a:solidFill>
                <a:latin typeface="Arial Black" panose="020B0A04020102020204" pitchFamily="34" charset="0"/>
              </a:rPr>
              <a:t>Больше информации про семью</a:t>
            </a:r>
            <a:endParaRPr lang="ru-RU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09593B1-9B9E-4987-8E99-937E95A71D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40385" y="1160860"/>
            <a:ext cx="2491132" cy="545068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CBE43AD-2C5C-4D8A-A58B-CFCCC4AC5E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86691" y="1160860"/>
            <a:ext cx="2472544" cy="545068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492A92D-FA19-4F87-84F1-481595CB35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33452" y="1160860"/>
            <a:ext cx="2459128" cy="545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623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D0D347D-0D9D-4E2F-8042-9CFACC4D6539}"/>
              </a:ext>
            </a:extLst>
          </p:cNvPr>
          <p:cNvSpPr txBox="1"/>
          <p:nvPr/>
        </p:nvSpPr>
        <p:spPr>
          <a:xfrm>
            <a:off x="-12401550" y="471269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C00000"/>
                </a:solidFill>
                <a:latin typeface="Arial Black" panose="020B0A04020102020204" pitchFamily="34" charset="0"/>
              </a:rPr>
              <a:t>Сохранение данных</a:t>
            </a:r>
            <a:endParaRPr lang="ru-RU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13DD3B-2450-446B-BBCD-47168577B031}"/>
              </a:ext>
            </a:extLst>
          </p:cNvPr>
          <p:cNvSpPr txBox="1"/>
          <p:nvPr/>
        </p:nvSpPr>
        <p:spPr>
          <a:xfrm>
            <a:off x="-12401550" y="1729996"/>
            <a:ext cx="6564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  <a:latin typeface="Arial Black" panose="020B0A04020102020204" pitchFamily="34" charset="0"/>
              </a:rPr>
              <a:t>Сохранение данных происходит в стандартизированном формате </a:t>
            </a:r>
            <a:r>
              <a:rPr lang="en-US" sz="2400" dirty="0">
                <a:solidFill>
                  <a:srgbClr val="C00000"/>
                </a:solidFill>
                <a:latin typeface="Arial Black" panose="020B0A04020102020204" pitchFamily="34" charset="0"/>
              </a:rPr>
              <a:t>GEDCOM</a:t>
            </a:r>
            <a:r>
              <a:rPr lang="ru-RU" sz="2400" dirty="0">
                <a:solidFill>
                  <a:srgbClr val="C00000"/>
                </a:solidFill>
                <a:latin typeface="Arial Black" panose="020B0A04020102020204" pitchFamily="34" charset="0"/>
              </a:rPr>
              <a:t>.</a:t>
            </a:r>
            <a:endParaRPr lang="ru-RU" sz="12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6D7497-24A5-4E0F-B1CE-F5196A690FEA}"/>
              </a:ext>
            </a:extLst>
          </p:cNvPr>
          <p:cNvSpPr txBox="1"/>
          <p:nvPr/>
        </p:nvSpPr>
        <p:spPr>
          <a:xfrm>
            <a:off x="-7524750" y="3927675"/>
            <a:ext cx="65649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solidFill>
                  <a:srgbClr val="C00000"/>
                </a:solidFill>
                <a:latin typeface="Arial Black" panose="020B0A04020102020204" pitchFamily="34" charset="0"/>
              </a:rPr>
              <a:t>Данными легко обмениваться, не приходится использовать стороннюю базу данных для сохранения, все данные хранятся в локальном хранилище телефона.</a:t>
            </a:r>
            <a:endParaRPr lang="ru-RU" sz="12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Половина рамки 1">
            <a:extLst>
              <a:ext uri="{FF2B5EF4-FFF2-40B4-BE49-F238E27FC236}">
                <a16:creationId xmlns:a16="http://schemas.microsoft.com/office/drawing/2014/main" id="{6E7DB018-4F94-4285-9327-34DE89ECDD15}"/>
              </a:ext>
            </a:extLst>
          </p:cNvPr>
          <p:cNvSpPr/>
          <p:nvPr/>
        </p:nvSpPr>
        <p:spPr>
          <a:xfrm rot="16200000">
            <a:off x="-12723490" y="4902827"/>
            <a:ext cx="1768276" cy="1067230"/>
          </a:xfrm>
          <a:prstGeom prst="halfFrame">
            <a:avLst>
              <a:gd name="adj1" fmla="val 22136"/>
              <a:gd name="adj2" fmla="val 19337"/>
            </a:avLst>
          </a:prstGeom>
          <a:solidFill>
            <a:srgbClr val="C00000"/>
          </a:solidFill>
          <a:ln>
            <a:solidFill>
              <a:srgbClr val="7E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0000"/>
              </a:solidFill>
            </a:endParaRPr>
          </a:p>
        </p:txBody>
      </p:sp>
      <p:sp>
        <p:nvSpPr>
          <p:cNvPr id="14" name="Половина рамки 13">
            <a:extLst>
              <a:ext uri="{FF2B5EF4-FFF2-40B4-BE49-F238E27FC236}">
                <a16:creationId xmlns:a16="http://schemas.microsoft.com/office/drawing/2014/main" id="{8D04F55B-FB39-4989-88D6-FD25E964A8A6}"/>
              </a:ext>
            </a:extLst>
          </p:cNvPr>
          <p:cNvSpPr/>
          <p:nvPr/>
        </p:nvSpPr>
        <p:spPr>
          <a:xfrm rot="5400000">
            <a:off x="-2684140" y="583985"/>
            <a:ext cx="1768276" cy="1067230"/>
          </a:xfrm>
          <a:prstGeom prst="halfFrame">
            <a:avLst>
              <a:gd name="adj1" fmla="val 22136"/>
              <a:gd name="adj2" fmla="val 19337"/>
            </a:avLst>
          </a:prstGeom>
          <a:solidFill>
            <a:srgbClr val="C00000"/>
          </a:solidFill>
          <a:ln>
            <a:solidFill>
              <a:srgbClr val="7E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BADB43-4EB6-4F42-94AB-873ABEFA8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00000">
            <a:off x="-10340261" y="3882566"/>
            <a:ext cx="1279150" cy="131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Символ &quot;Запрещено&quot; 14">
            <a:extLst>
              <a:ext uri="{FF2B5EF4-FFF2-40B4-BE49-F238E27FC236}">
                <a16:creationId xmlns:a16="http://schemas.microsoft.com/office/drawing/2014/main" id="{365E8215-8BA5-4A11-8ACC-5F650B423B79}"/>
              </a:ext>
            </a:extLst>
          </p:cNvPr>
          <p:cNvSpPr/>
          <p:nvPr/>
        </p:nvSpPr>
        <p:spPr>
          <a:xfrm rot="20700000">
            <a:off x="-10647664" y="3429000"/>
            <a:ext cx="2090566" cy="1929512"/>
          </a:xfrm>
          <a:prstGeom prst="noSmoking">
            <a:avLst>
              <a:gd name="adj" fmla="val 10108"/>
            </a:avLst>
          </a:prstGeom>
          <a:solidFill>
            <a:srgbClr val="C00000"/>
          </a:solidFill>
          <a:ln>
            <a:solidFill>
              <a:srgbClr val="7E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CAAEE8-18A1-4B7A-9EDB-345B7D40B407}"/>
              </a:ext>
            </a:extLst>
          </p:cNvPr>
          <p:cNvSpPr txBox="1"/>
          <p:nvPr/>
        </p:nvSpPr>
        <p:spPr>
          <a:xfrm>
            <a:off x="129663" y="471269"/>
            <a:ext cx="11932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rgbClr val="C00000"/>
                </a:solidFill>
                <a:latin typeface="Arial Black" panose="020B0A04020102020204" pitchFamily="34" charset="0"/>
              </a:rPr>
              <a:t>Больше информации про семью</a:t>
            </a:r>
            <a:endParaRPr lang="ru-RU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0E44B34-B740-43B1-AD79-39616685A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922" y="1160860"/>
            <a:ext cx="2491132" cy="545068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4B1997A-2587-4342-9547-F7C849795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228" y="1160860"/>
            <a:ext cx="2472544" cy="545068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B143A93-BB49-4026-AE56-218D242AC2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989" y="1160860"/>
            <a:ext cx="2459128" cy="545068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A37BB59-8554-486D-9228-8B96DEB608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52309" y="1117600"/>
            <a:ext cx="2474072" cy="537658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86490AB-A253-4D64-A245-E816A6BDF5DF}"/>
              </a:ext>
            </a:extLst>
          </p:cNvPr>
          <p:cNvSpPr txBox="1"/>
          <p:nvPr/>
        </p:nvSpPr>
        <p:spPr>
          <a:xfrm>
            <a:off x="12023008" y="270046"/>
            <a:ext cx="11932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rgbClr val="C00000"/>
                </a:solidFill>
                <a:latin typeface="Arial Black" panose="020B0A04020102020204" pitchFamily="34" charset="0"/>
              </a:rPr>
              <a:t>Гибкие настройки отображения деревьев</a:t>
            </a:r>
            <a:endParaRPr lang="ru-RU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930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0CAAEE8-18A1-4B7A-9EDB-345B7D40B407}"/>
              </a:ext>
            </a:extLst>
          </p:cNvPr>
          <p:cNvSpPr txBox="1"/>
          <p:nvPr/>
        </p:nvSpPr>
        <p:spPr>
          <a:xfrm>
            <a:off x="-11932674" y="471269"/>
            <a:ext cx="11932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rgbClr val="C00000"/>
                </a:solidFill>
                <a:latin typeface="Arial Black" panose="020B0A04020102020204" pitchFamily="34" charset="0"/>
              </a:rPr>
              <a:t>Больше информации про семью</a:t>
            </a:r>
            <a:endParaRPr lang="ru-RU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0E44B34-B740-43B1-AD79-39616685A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48415" y="1160860"/>
            <a:ext cx="2491132" cy="545068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4B1997A-2587-4342-9547-F7C849795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02109" y="1160860"/>
            <a:ext cx="2472544" cy="545068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B143A93-BB49-4026-AE56-218D242AC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055348" y="1160860"/>
            <a:ext cx="2459128" cy="54506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EDD129-A2A5-4D5A-A8CE-27AD35606E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452" y="1117600"/>
            <a:ext cx="2474072" cy="53765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6B3FD1B-1FE0-41AF-9043-C8B48F3A407F}"/>
              </a:ext>
            </a:extLst>
          </p:cNvPr>
          <p:cNvSpPr txBox="1"/>
          <p:nvPr/>
        </p:nvSpPr>
        <p:spPr>
          <a:xfrm>
            <a:off x="93151" y="270046"/>
            <a:ext cx="11932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rgbClr val="C00000"/>
                </a:solidFill>
                <a:latin typeface="Arial Black" panose="020B0A04020102020204" pitchFamily="34" charset="0"/>
              </a:rPr>
              <a:t>Гибкие настройки отображения деревьев</a:t>
            </a:r>
            <a:endParaRPr lang="ru-RU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66A4E7-4154-4D8D-8168-C6997318ECBE}"/>
              </a:ext>
            </a:extLst>
          </p:cNvPr>
          <p:cNvSpPr txBox="1"/>
          <p:nvPr/>
        </p:nvSpPr>
        <p:spPr>
          <a:xfrm>
            <a:off x="10986371" y="328360"/>
            <a:ext cx="11932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rgbClr val="C00000"/>
                </a:solidFill>
                <a:latin typeface="Arial Black" panose="020B0A04020102020204" pitchFamily="34" charset="0"/>
              </a:rPr>
              <a:t>Использовавшийся стек</a:t>
            </a:r>
            <a:endParaRPr lang="ru-RU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DC7981-90E5-40D6-98FC-C0D4134CC6EE}"/>
              </a:ext>
            </a:extLst>
          </p:cNvPr>
          <p:cNvSpPr txBox="1"/>
          <p:nvPr/>
        </p:nvSpPr>
        <p:spPr>
          <a:xfrm>
            <a:off x="13633699" y="1567394"/>
            <a:ext cx="65649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latin typeface="Arial Black" panose="020B0A04020102020204" pitchFamily="34" charset="0"/>
              </a:rPr>
              <a:t>Kotlin</a:t>
            </a:r>
          </a:p>
          <a:p>
            <a:pPr algn="ctr"/>
            <a:r>
              <a:rPr lang="en-US" sz="4000" dirty="0">
                <a:solidFill>
                  <a:srgbClr val="C00000"/>
                </a:solidFill>
                <a:latin typeface="Arial Black" panose="020B0A04020102020204" pitchFamily="34" charset="0"/>
              </a:rPr>
              <a:t>Java</a:t>
            </a:r>
            <a:br>
              <a:rPr lang="en-US" sz="4000" dirty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n-US" sz="4000" dirty="0">
                <a:solidFill>
                  <a:srgbClr val="C00000"/>
                </a:solidFill>
                <a:latin typeface="Arial Black" panose="020B0A04020102020204" pitchFamily="34" charset="0"/>
              </a:rPr>
              <a:t>GedcomGraph</a:t>
            </a:r>
          </a:p>
          <a:p>
            <a:pPr algn="ctr"/>
            <a:r>
              <a:rPr lang="en-US" sz="4000" dirty="0">
                <a:solidFill>
                  <a:srgbClr val="C00000"/>
                </a:solidFill>
                <a:latin typeface="Arial Black" panose="020B0A04020102020204" pitchFamily="34" charset="0"/>
              </a:rPr>
              <a:t>Gson</a:t>
            </a:r>
            <a:br>
              <a:rPr lang="en-US" sz="4000" dirty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n-US" sz="4000" dirty="0">
                <a:solidFill>
                  <a:srgbClr val="C00000"/>
                </a:solidFill>
                <a:latin typeface="Arial Black" panose="020B0A04020102020204" pitchFamily="34" charset="0"/>
              </a:rPr>
              <a:t>Glide</a:t>
            </a:r>
            <a:endParaRPr lang="ru-RU" sz="20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FC6DBF2A-6CC8-47FC-858D-F6741A7D6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6192" y="1117600"/>
            <a:ext cx="1549696" cy="154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Иконки, логотипы, символы Java — Скачать в PNG и SVG бесплатно">
            <a:extLst>
              <a:ext uri="{FF2B5EF4-FFF2-40B4-BE49-F238E27FC236}">
                <a16:creationId xmlns:a16="http://schemas.microsoft.com/office/drawing/2014/main" id="{594A5BE2-8D78-441E-8282-39E2A9A6F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5708" y="705762"/>
            <a:ext cx="2619488" cy="2619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Генеалогическое древо. Gedcom - онлайн (gedcom file viewer online)">
            <a:extLst>
              <a:ext uri="{FF2B5EF4-FFF2-40B4-BE49-F238E27FC236}">
                <a16:creationId xmlns:a16="http://schemas.microsoft.com/office/drawing/2014/main" id="{103DF2BE-DB73-4D4F-B26C-6C14C3382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3727" y="4897151"/>
            <a:ext cx="1844936" cy="184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9514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EDD129-A2A5-4D5A-A8CE-27AD35606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69084" y="1117600"/>
            <a:ext cx="2474072" cy="53765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6B3FD1B-1FE0-41AF-9043-C8B48F3A407F}"/>
              </a:ext>
            </a:extLst>
          </p:cNvPr>
          <p:cNvSpPr txBox="1"/>
          <p:nvPr/>
        </p:nvSpPr>
        <p:spPr>
          <a:xfrm>
            <a:off x="-13298385" y="270046"/>
            <a:ext cx="11932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rgbClr val="C00000"/>
                </a:solidFill>
                <a:latin typeface="Arial Black" panose="020B0A04020102020204" pitchFamily="34" charset="0"/>
              </a:rPr>
              <a:t>Гибкие настройки отображения деревьев</a:t>
            </a:r>
            <a:endParaRPr lang="ru-RU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2392CE-6B85-4E13-844D-C589DA2F9C96}"/>
              </a:ext>
            </a:extLst>
          </p:cNvPr>
          <p:cNvSpPr txBox="1"/>
          <p:nvPr/>
        </p:nvSpPr>
        <p:spPr>
          <a:xfrm>
            <a:off x="129663" y="328360"/>
            <a:ext cx="11932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rgbClr val="C00000"/>
                </a:solidFill>
                <a:latin typeface="Arial Black" panose="020B0A04020102020204" pitchFamily="34" charset="0"/>
              </a:rPr>
              <a:t>Использовавшийся стек</a:t>
            </a:r>
            <a:endParaRPr lang="ru-RU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A862E-69E4-47D6-9DC0-2A3D18795313}"/>
              </a:ext>
            </a:extLst>
          </p:cNvPr>
          <p:cNvSpPr txBox="1"/>
          <p:nvPr/>
        </p:nvSpPr>
        <p:spPr>
          <a:xfrm>
            <a:off x="2776991" y="1567394"/>
            <a:ext cx="65649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latin typeface="Arial Black" panose="020B0A04020102020204" pitchFamily="34" charset="0"/>
              </a:rPr>
              <a:t>Kotlin</a:t>
            </a:r>
          </a:p>
          <a:p>
            <a:pPr algn="ctr"/>
            <a:r>
              <a:rPr lang="en-US" sz="4000" dirty="0">
                <a:solidFill>
                  <a:srgbClr val="C00000"/>
                </a:solidFill>
                <a:latin typeface="Arial Black" panose="020B0A04020102020204" pitchFamily="34" charset="0"/>
              </a:rPr>
              <a:t>Java</a:t>
            </a:r>
            <a:br>
              <a:rPr lang="en-US" sz="4000" dirty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n-US" sz="4000" dirty="0">
                <a:solidFill>
                  <a:srgbClr val="C00000"/>
                </a:solidFill>
                <a:latin typeface="Arial Black" panose="020B0A04020102020204" pitchFamily="34" charset="0"/>
              </a:rPr>
              <a:t>GedcomGraph</a:t>
            </a:r>
          </a:p>
          <a:p>
            <a:pPr algn="ctr"/>
            <a:r>
              <a:rPr lang="en-US" sz="4000" dirty="0">
                <a:solidFill>
                  <a:srgbClr val="C00000"/>
                </a:solidFill>
                <a:latin typeface="Arial Black" panose="020B0A04020102020204" pitchFamily="34" charset="0"/>
              </a:rPr>
              <a:t>Gson</a:t>
            </a:r>
            <a:br>
              <a:rPr lang="en-US" sz="4000" dirty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n-US" sz="4000" dirty="0">
                <a:solidFill>
                  <a:srgbClr val="C00000"/>
                </a:solidFill>
                <a:latin typeface="Arial Black" panose="020B0A04020102020204" pitchFamily="34" charset="0"/>
              </a:rPr>
              <a:t>Glide</a:t>
            </a:r>
            <a:endParaRPr lang="ru-RU" sz="20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AC8B17-F6C2-40FE-AE2B-D6C6A1EFA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484" y="1117600"/>
            <a:ext cx="1549696" cy="154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Иконки, логотипы, символы Java — Скачать в PNG и SVG бесплатно">
            <a:extLst>
              <a:ext uri="{FF2B5EF4-FFF2-40B4-BE49-F238E27FC236}">
                <a16:creationId xmlns:a16="http://schemas.microsoft.com/office/drawing/2014/main" id="{1EADAFF0-2829-4F53-B38E-F7568C620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705762"/>
            <a:ext cx="2619488" cy="2619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Генеалогическое древо. Gedcom - онлайн (gedcom file viewer online)">
            <a:extLst>
              <a:ext uri="{FF2B5EF4-FFF2-40B4-BE49-F238E27FC236}">
                <a16:creationId xmlns:a16="http://schemas.microsoft.com/office/drawing/2014/main" id="{4760CCFE-FA2B-4330-A741-90E3C6DE1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019" y="4897151"/>
            <a:ext cx="1844936" cy="184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1603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242</Words>
  <Application>Microsoft Office PowerPoint</Application>
  <PresentationFormat>Широкоэкранный</PresentationFormat>
  <Paragraphs>36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Трошин Максим Андреевич</dc:creator>
  <cp:lastModifiedBy>Трошин Максим Андреевич</cp:lastModifiedBy>
  <cp:revision>23</cp:revision>
  <dcterms:created xsi:type="dcterms:W3CDTF">2025-09-23T17:16:39Z</dcterms:created>
  <dcterms:modified xsi:type="dcterms:W3CDTF">2025-12-19T02:06:10Z</dcterms:modified>
</cp:coreProperties>
</file>